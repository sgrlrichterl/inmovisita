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B36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3B36"/>
                </a:solidFill>
                <a:latin typeface="Calibri"/>
              </a:rPr>
              <a:t>Peso de cada factor sobre 100 puntos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Peso maximo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302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Nivel de interés</c:v>
                  </c:pt>
                  <c:pt idx="1">
                    <c:v>Capacidad de compra</c:v>
                  </c:pt>
                  <c:pt idx="2">
                    <c:v>Crédito preaprobado</c:v>
                  </c:pt>
                  <c:pt idx="3">
                    <c:v>Duración de visita</c:v>
                  </c:pt>
                  <c:pt idx="4">
                    <c:v>Checklist completo</c:v>
                  </c:pt>
                  <c:pt idx="5">
                    <c:v>Evidencia registrada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302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302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</c:scaling>
        <c:delete val="0"/>
        <c:axPos val="b"/>
        <c:majorGridlines>
          <c:spPr>
            <a:ln w="12700" cap="flat">
              <a:solidFill>
                <a:srgbClr val="EDF3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B36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B3B36"/>
                </a:solidFill>
                <a:latin typeface="Calibri"/>
              </a:rPr>
              <a:t>Presupuesto asignado: 300 USD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Presupuesto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766E"/>
              </a:solidFill>
              <a:effectLst/>
            </c:spPr>
          </c:dPt>
          <c:dPt>
            <c:idx val="1"/>
            <c:bubble3D val="0"/>
            <c:spPr>
              <a:solidFill>
                <a:srgbClr val="E6F2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Comprometido</c:v>
                </c:pt>
                <c:pt idx="1">
                  <c:v>Disponible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139</c:v>
                </c:pt>
                <c:pt idx="1">
                  <c:v>161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6302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Taller ABP. InmoVisita resuelve un problema real del sector inmobiliario: el asesor trabaja donde no hay señal y las herramientas de la agencia exigen conexión permanente.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proceso actual tiene cinco pasos y dos de ellos son puro reproceso.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tres metas de la derecha son las variables medibles del objetivo general.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letra del criterio SMART se cumple con un elemento verificable del objetivo.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pasos corresponden a los sprints del proyecto y cada uno cierra con un incremento instalable.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capacidades, cada una respaldada por un mecanismo tecnico concreto del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clave: la interfaz jamas depende de la red. La sincronización ocurre en segundo plano.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nucleo tecnico del proyecto y el que concentra la mayor parte de las pruebas automatizadas.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es auditable: la app muestra el desglose por factor mientras el asesor llena el formulario.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de amenazas STRIDE completo esta en docs/05-seguridad.md.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cobertura se mide sobre src/dominio, que es donde vive la lógica de negocio del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este volumen el consumo cabe en la capa gratuita; los 15 USD son margen de seguridad, no costo calculado.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contraste se validara con prueba t pareada y tamano del efecto, segun el protocolo de docs/07.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el proyecto no termina en la entrega; las tres lineas son continuaciones concretas para el semillero.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-1463040"/>
            <a:ext cx="4572000" cy="4572000"/>
          </a:xfrm>
          <a:prstGeom prst="ellipse">
            <a:avLst/>
          </a:prstGeom>
          <a:solidFill>
            <a:srgbClr val="0F766E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77272" y="3291840"/>
            <a:ext cx="2926080" cy="2926080"/>
          </a:xfrm>
          <a:prstGeom prst="ellipse">
            <a:avLst/>
          </a:prstGeom>
          <a:solidFill>
            <a:srgbClr val="E08A2E">
              <a:alpha val="1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ABP  ·  ENTREGA 1  ·  20 %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InmoVisita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432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 offline-first para el registro y la calificación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 de visitas inmobiliarias en zonas sin cobertura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2788920" cy="384048"/>
          </a:xfrm>
          <a:prstGeom prst="roundRect">
            <a:avLst>
              <a:gd name="adj" fmla="val 47619"/>
            </a:avLst>
          </a:prstGeom>
          <a:solidFill>
            <a:srgbClr val="0F7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9776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Firebase Serverless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02920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9F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Sebastián García Riveros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F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Aplicaciones Móviles  ·  Ingeniería Informática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F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y Ciencias Ambientales  ·  Católica del Norte Fundación Universitaria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más valioso del negocio se genera justo donde no hay red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28216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28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6916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el inmueble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9385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sitio, sin señal de datos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41448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2404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 en papel o notas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26517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libre, campos omitidos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31181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fotos por mensajería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3649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dispersa, sin trazabilidad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67912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38313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Retranscribe al CRM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407822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digitación al final del día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581144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70432" y="45445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coordinador se entera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170432" y="47914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lead ya se enfrió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1645920"/>
            <a:ext cx="5513832" cy="1600200"/>
          </a:xfrm>
          <a:prstGeom prst="roundRect">
            <a:avLst>
              <a:gd name="adj" fmla="val 5143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6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355080" y="1783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56,9 %</a:t>
            </a:r>
            <a:endParaRPr lang="en-US" sz="4600" dirty="0"/>
          </a:p>
        </p:txBody>
      </p:sp>
      <p:sp>
        <p:nvSpPr>
          <p:cNvPr id="26" name="Text 24"/>
          <p:cNvSpPr txBox="1"/>
          <p:nvPr/>
        </p:nvSpPr>
        <p:spPr>
          <a:xfrm>
            <a:off x="8732520" y="1810512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hogares rurales en Colombia tenía internet en 2025, frente al 73,9 % del promedio nacional (MinTIC, 2026)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35040" y="3429000"/>
            <a:ext cx="5513832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CFE0DC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6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355080" y="36118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cuesta hoy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355080" y="39776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digitación de cada visita, con pérdida de detalle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o un día completo de latencia hasta el lead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 subjetiva, no comparable entre asesores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fuera de todo sistema auditable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3550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Ministerio TIC de Colombia (2026).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023360"/>
            <a:ext cx="4023360" cy="4023360"/>
          </a:xfrm>
          <a:prstGeom prst="ellipse">
            <a:avLst/>
          </a:prstGeom>
          <a:solidFill>
            <a:srgbClr val="0F766E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PROBLEMA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424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¿De qué manera una aplicación móvil multiplataforma en Flutter, con arquitectura offline-first y backend serverless en Firebase, permite eliminar la doble digitación y reducir a menos de 5 minutos el tiempo entre el cierre de una visita y la disponibilidad del lead calificado, en zonas con conectividad intermitente?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754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349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formulario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sin red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4754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 min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5349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el lead visible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recuperar señal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4754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5349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retranscripciones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9F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CRM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general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Formulado bajo el criterio SMART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08792" cy="1371600"/>
          </a:xfrm>
          <a:prstGeom prst="roundRect">
            <a:avLst>
              <a:gd name="adj" fmla="val 60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6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828800"/>
            <a:ext cx="10268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y desplegar, en 8 semanas, una aplicación móvil multiplataforma en Flutter con arquitectura offline-first y backend serverless en Firebase que permita registrar el 100 % de una visita inmobiliaria sin conexión y sincronizar el lead calificado en menos de 5 minutos desde que el dispositivo recupera cobertura, eliminando la retranscripción manual en el CRM.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3101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Específico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33192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offline, sincronización automática y calificación de leads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38587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Medible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386791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 sin red · &lt; 5 min de latencia · 0 retranscripciones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44074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Alcanzable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108960" y="441655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administrados y un solo código base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937760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207008" y="49560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Relevante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3108960" y="49651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 los dos costos reales: reproceso y pérdida de leads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486400"/>
            <a:ext cx="384048" cy="384048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07008" y="5504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3108960" y="551383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semanas, con hitos por objetivo específico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metodológica móvil de tres pasos, en 8 semanas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37947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CFE0DC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6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96596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606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1-3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8346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Investigación y prototipado UX/UI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3611880"/>
            <a:ext cx="2926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el flujo real del asesor en campo, definir el modelo de datos de la visita y diseñar los prototipos navegables de las cuatro pantallas críticas, evaluando usabilidad con uso a una sola mano y en exteriores.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79976" y="1691640"/>
            <a:ext cx="3520440" cy="37947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CFE0DC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6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72584" y="196596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72584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72584" y="2606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4-6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672584" y="28346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móvil e integración backend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72584" y="3611880"/>
            <a:ext cx="2926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el cliente en Flutter con Clean Architecture y SQLite, implementar el motor de sincronización con patron Outbox e idempotencia, y consumir la API REST en Cloud Functions con JWT, superando el 90 % de cobertura del dominio.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19872" y="1691640"/>
            <a:ext cx="3520440" cy="37947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CFE0DC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6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0" y="1965960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2606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7-8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28346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 en dispositivos y medición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3611880"/>
            <a:ext cx="2926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en Android e iOS reales bajo tres escenarios de red, midiendo tiempo de registro, latencia de sincronización, consumo de batería y usabilidad SUS, y contrastar con la línea base del proceso manual.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deja de ser un requisito y pasa a ser un recurso opcional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CFE0DC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6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93392"/>
            <a:ext cx="402336" cy="40233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208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sin señal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4871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 local con sincronización delta por marca de tiempo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9976" y="17373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CFE0DC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6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54296" y="1993392"/>
            <a:ext cx="402336" cy="40233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54296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57216" y="20208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completa en campo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54296" y="24871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Checklist, interés, presupuesto y geolocalización sobre SQLite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19872" y="17373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CFE0DC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6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1993392"/>
            <a:ext cx="402336" cy="40233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94192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2" y="20208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 automática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24871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6 factores, 0 a 100, frío / tibio / caliente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70332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6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3959352"/>
            <a:ext cx="402336" cy="402336"/>
          </a:xfrm>
          <a:prstGeom prst="ellipse">
            <a:avLst/>
          </a:prstGeom>
          <a:solidFill>
            <a:srgbClr val="0B3B36"/>
          </a:solidFill>
          <a:ln w="12700">
            <a:solidFill>
              <a:srgbClr val="0B3B3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398678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pérdida de datos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45312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transaccional y reintentos con retroceso exponencial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79976" y="370332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6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54296" y="3959352"/>
            <a:ext cx="402336" cy="402336"/>
          </a:xfrm>
          <a:prstGeom prst="ellipse">
            <a:avLst/>
          </a:prstGeom>
          <a:solidFill>
            <a:srgbClr val="0B3B36"/>
          </a:solidFill>
          <a:ln w="12700">
            <a:solidFill>
              <a:srgbClr val="0B3B3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54296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157216" y="398678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Conflictos resueltos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654296" y="445312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monótona y detección explícita de escrituras concurrentes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19872" y="370332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6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94192" y="3959352"/>
            <a:ext cx="402336" cy="402336"/>
          </a:xfrm>
          <a:prstGeom prst="ellipse">
            <a:avLst/>
          </a:prstGeom>
          <a:solidFill>
            <a:srgbClr val="0B3B36"/>
          </a:solidFill>
          <a:ln w="12700">
            <a:solidFill>
              <a:srgbClr val="0B3B3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94192" y="3959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897112" y="398678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inmediato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94192" y="445312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Disparador de Firestore que notifica al coordinador por push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en la nube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capas, backend serverless, sin servidores que administrar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291840" cy="3931920"/>
          </a:xfrm>
          <a:prstGeom prst="roundRect">
            <a:avLst>
              <a:gd name="adj" fmla="val 25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6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10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 ·  FLUTTER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28346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CFE0D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1762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386584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 + Riverpod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68680" y="2715768"/>
            <a:ext cx="28346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CFE0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274320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95351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Entidades, scoring, sync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68680" y="3282696"/>
            <a:ext cx="28346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CFE0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33101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520440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 y data sources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68680" y="3849624"/>
            <a:ext cx="28346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CFE0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387705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087368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verdad local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68680" y="4416552"/>
            <a:ext cx="28346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CFE0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444398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654296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de operaciones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68680" y="4983480"/>
            <a:ext cx="28346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CFE0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5840" y="50109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Storage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221224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cifrados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069080" y="3246120"/>
            <a:ext cx="777240" cy="384048"/>
          </a:xfrm>
          <a:prstGeom prst="rightArrow">
            <a:avLst/>
          </a:prstGeom>
          <a:solidFill>
            <a:srgbClr val="E0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03320" y="37033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TLS 1.2+ · Bearer JWT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94960" y="1645920"/>
            <a:ext cx="6153912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CFE0DC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6">
                <a:alpha val="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5623560" y="18105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 ·  FIREBASE  ·  us-central1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23560" y="2212848"/>
            <a:ext cx="2743200" cy="914400"/>
          </a:xfrm>
          <a:prstGeom prst="roundRect">
            <a:avLst>
              <a:gd name="adj" fmla="val 70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788152" y="2350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788152" y="2651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custom claims de rol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513064" y="2212848"/>
            <a:ext cx="2743200" cy="914400"/>
          </a:xfrm>
          <a:prstGeom prst="roundRect">
            <a:avLst>
              <a:gd name="adj" fmla="val 70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677656" y="2350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Functions v2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677656" y="26517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/v1/sync/pull · push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23560" y="3291840"/>
            <a:ext cx="2743200" cy="914400"/>
          </a:xfrm>
          <a:prstGeom prst="roundRect">
            <a:avLst>
              <a:gd name="adj" fmla="val 70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788152" y="3429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788152" y="37307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inmuebles · visitas · operaciones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513064" y="3291840"/>
            <a:ext cx="2743200" cy="914400"/>
          </a:xfrm>
          <a:prstGeom prst="roundRect">
            <a:avLst>
              <a:gd name="adj" fmla="val 70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677656" y="3429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677656" y="37307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y firmas de la visita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23560" y="4370832"/>
            <a:ext cx="2743200" cy="914400"/>
          </a:xfrm>
          <a:prstGeom prst="roundRect">
            <a:avLst>
              <a:gd name="adj" fmla="val 70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788152" y="4507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+ Scheduler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788152" y="480974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y métricas diarias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513064" y="4370832"/>
            <a:ext cx="2743200" cy="914400"/>
          </a:xfrm>
          <a:prstGeom prst="roundRect">
            <a:avLst>
              <a:gd name="adj" fmla="val 70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677656" y="4507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Messaging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8677656" y="480974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al coordinador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63550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dispositivo nunca espera a la red: lee y escribe siempre en SQLite. La nube se reconcilia después.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motor de sincronización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problemas distintos, cuatro mecanismos distintos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E0DC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6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38528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856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transaccional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1671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muere entre guardar y enviar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65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y su operación pendiente se escriben en la MISMA transacción SQLite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724912"/>
            <a:ext cx="10908792" cy="914400"/>
          </a:xfrm>
          <a:prstGeom prst="roundRect">
            <a:avLst>
              <a:gd name="adj" fmla="val 90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6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2971800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2971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28895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Idempotencia por UUID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3200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reintento duplica la visita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9992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operacionId lo genera el dispositivo; el servidor lo registra y no reprocesa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758184"/>
            <a:ext cx="1090879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FE0DC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6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6112" y="4005072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6112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39227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delta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42336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 todo el catálogo agota datos y batería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403250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viajan los registros con updatedAt posterior al último cursor confirmado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791456"/>
            <a:ext cx="10908792" cy="914400"/>
          </a:xfrm>
          <a:prstGeom prst="roundRect">
            <a:avLst>
              <a:gd name="adj" fmla="val 9000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6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6112" y="5038344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96112" y="5038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481328" y="4956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+ LWW con conflicto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481328" y="52669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dispositivos editan el mismo registro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937760" y="506577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monótono; si ambas copias cambiaron se marca conflicto, no se sobrescribe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8521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Reintentos: 5 s → 10 s → 20 s → 40 s ... tope 15 min, con jitter de ±20 % para no saturar el backend cuando decenas de dispositivos recuperan cobertura a la vez.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Calificación automática del lead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explicable de seis factores, replicado en cliente y servidor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400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406640" y="1737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comercial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406640" y="2148840"/>
            <a:ext cx="414223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CFE0DC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6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07808" y="2423160"/>
            <a:ext cx="274320" cy="2743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73568" y="22768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Caliente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973568" y="2560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a 100 puntos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9601200" y="236829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inmediato del coordinador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406640" y="3108960"/>
            <a:ext cx="414223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CFE0DC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6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607808" y="3383280"/>
            <a:ext cx="274320" cy="274320"/>
          </a:xfrm>
          <a:prstGeom prst="ellipse">
            <a:avLst/>
          </a:prstGeom>
          <a:solidFill>
            <a:srgbClr val="E0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973568" y="32369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Tibio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973568" y="3520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a 69 puntos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9601200" y="33284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en las siguientes 48 horas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406640" y="4069080"/>
            <a:ext cx="414223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CFE0DC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6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607808" y="434340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73568" y="41970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Frío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7973568" y="4480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 44 puntos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9601200" y="428853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en campaña de nutrición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7406640" y="5074920"/>
            <a:ext cx="4142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recalcula el puntaje e ignora el que envía el dispositivo: hay pruebas que lo verifican.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por capas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entrada del dispositivo se considera hostil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072826"/>
          </a:solidFill>
          <a:ln w="12700">
            <a:solidFill>
              <a:srgbClr val="1E50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420624" cy="420624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21579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Dispositivo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4320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en Keychain / EncryptedSharedPreferences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secretos compilados: todo por --dart-define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local sin documentos ni datos financieros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9976" y="182880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072826"/>
          </a:solidFill>
          <a:ln w="12700">
            <a:solidFill>
              <a:srgbClr val="1E50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54296" y="2103120"/>
            <a:ext cx="420624" cy="420624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54296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184648" y="21579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54296" y="274320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obligatorio con TLS 1.2 o superior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Bearer con JWT de una hora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Renovación transparente 5 min antes del vencimiento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19872" y="182880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072826"/>
          </a:solidFill>
          <a:ln w="12700">
            <a:solidFill>
              <a:srgbClr val="1E50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94192" y="2103120"/>
            <a:ext cx="420624" cy="420624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94192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924544" y="21579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Nube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274320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verifyIdToken con comprobación de revocación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como custom claim firmado, no como campo del cuerpo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Firestore y Storage: denegar por defecto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ignora deliberadamente asesorUid, scoreLead y revision enviados por el cliente: los recalcula.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 de ingeniería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se diseñó para poder probarse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1463040"/>
          </a:xfrm>
          <a:prstGeom prst="roundRect">
            <a:avLst>
              <a:gd name="adj" fmla="val 5625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6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105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5059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automatizadas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backend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38144" y="1691640"/>
            <a:ext cx="2606040" cy="1463040"/>
          </a:xfrm>
          <a:prstGeom prst="roundRect">
            <a:avLst>
              <a:gd name="adj" fmla="val 5625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6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66744" y="18105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96 %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666744" y="245059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la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dominio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6208" y="1691640"/>
            <a:ext cx="2606040" cy="1463040"/>
          </a:xfrm>
          <a:prstGeom prst="roundRect">
            <a:avLst>
              <a:gd name="adj" fmla="val 5625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6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64808" y="18105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464808" y="245059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suites entre cliente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servidor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34272" y="1691640"/>
            <a:ext cx="2606040" cy="1463040"/>
          </a:xfrm>
          <a:prstGeom prst="roundRect">
            <a:avLst>
              <a:gd name="adj" fmla="val 5625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6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62872" y="18105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262872" y="245059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 tipo en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3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estricto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15568" y="34290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por feature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15568" y="36758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dominio no conoce Flutter, SQLite ni HTTP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45352" y="3474720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45352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720840" y="34290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de dependencias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36758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motor depende de la interfaz SyncApi, no del cliente HTTP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279392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" y="42336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real en las pruebas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115568" y="44805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sqflite_common_ffi ejecuta la base en memoria, sin emulador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45352" y="4279392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45352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720840" y="42336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continua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44805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tsc, jest, flutter analyze y flutter test en cada push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084064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5084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115568" y="503834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Paridad cliente/servidor verificada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1115568" y="52852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modelo de scoring en Dart y TypeScript, con pruebas espejo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45352" y="5084064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45352" y="5084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720840" y="503834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fuera del código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6720840" y="52852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secreto versionado; .gitignore cubre credenciales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63550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real de npm test sobre este repositorio: 4 suites, 32 pruebas, 96,21 % de sentencias cubiertas.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Costos de operación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de 10 asesores y 1 320 visitas mensuales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69494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371600"/>
                <a:gridCol w="155448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 / servicio móvil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Frecuencia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USD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Play Console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 único de por vida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$25,00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Developer Program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Suscripción anual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$99,00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Firebase: Firestore, Functions, 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Cloud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Estimado mensual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Messaging (push)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63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$0,00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977640"/>
            <a:ext cx="6949440" cy="914400"/>
          </a:xfrm>
          <a:prstGeom prst="roundRect">
            <a:avLst>
              <a:gd name="adj" fmla="val 9000"/>
            </a:avLst>
          </a:prstGeom>
          <a:solidFill>
            <a:srgbClr val="FBEEDC"/>
          </a:solidFill>
          <a:ln w="12700">
            <a:solidFill>
              <a:srgbClr val="FBE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B3B36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914400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total estimado del proyecto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120640" y="41330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$139,00 USD</a:t>
            </a:r>
            <a:endParaRPr lang="en-US" sz="2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818120" y="1737360"/>
          <a:ext cx="37490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7818120" y="4983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53,7 % de eficiencia presupuestal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63550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crece con el número de operaciones, no con el de usuarios: por eso la sincronización delta es también un control de gasto.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esperado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medibles frente a la línea base del proceso manual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70916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MANUAL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8183880" y="16916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INMOVISITA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registro por visita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2103120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F3F5F5"/>
          </a:solidFill>
          <a:ln w="12700">
            <a:solidFill>
              <a:srgbClr val="F3F5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9160" y="21031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min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83880" y="2103120"/>
            <a:ext cx="3337560" cy="594360"/>
          </a:xfrm>
          <a:prstGeom prst="roundRect">
            <a:avLst>
              <a:gd name="adj" fmla="val 12308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210312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&lt;= 3 min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9900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Retranscripciones al CRM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2852928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F3F5F5"/>
          </a:solidFill>
          <a:ln w="12700">
            <a:solidFill>
              <a:srgbClr val="F3F5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28529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por visita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83880" y="2852928"/>
            <a:ext cx="3337560" cy="594360"/>
          </a:xfrm>
          <a:prstGeom prst="roundRect">
            <a:avLst>
              <a:gd name="adj" fmla="val 12308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83880" y="285292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73989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hasta el lead visible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3602736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F3F5F5"/>
          </a:solidFill>
          <a:ln w="12700">
            <a:solidFill>
              <a:srgbClr val="F3F5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360273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o día siguiente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83880" y="3602736"/>
            <a:ext cx="3337560" cy="594360"/>
          </a:xfrm>
          <a:prstGeom prst="roundRect">
            <a:avLst>
              <a:gd name="adj" fmla="val 12308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83880" y="3602736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4897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perdidas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4352544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F3F5F5"/>
          </a:solidFill>
          <a:ln w="12700">
            <a:solidFill>
              <a:srgbClr val="F3F5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09160" y="4352544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83880" y="4352544"/>
            <a:ext cx="3337560" cy="594360"/>
          </a:xfrm>
          <a:prstGeom prst="roundRect">
            <a:avLst>
              <a:gd name="adj" fmla="val 12308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3880" y="4352544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2395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priorización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09160" y="5102352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F3F5F5"/>
          </a:solidFill>
          <a:ln w="12700">
            <a:solidFill>
              <a:srgbClr val="F3F5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09160" y="510235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Subjetivo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83880" y="5102352"/>
            <a:ext cx="3337560" cy="594360"/>
          </a:xfrm>
          <a:prstGeom prst="roundRect">
            <a:avLst>
              <a:gd name="adj" fmla="val 12308"/>
            </a:avLst>
          </a:prstGeom>
          <a:solidFill>
            <a:srgbClr val="E6F2F0"/>
          </a:solidFill>
          <a:ln w="12700">
            <a:solidFill>
              <a:srgbClr val="E6F2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83880" y="510235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0-100 auditable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63550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línea base se levanta con cronometraje directo durante la primera semana, antes de introducir la aplicación.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5752" y="-1097280"/>
            <a:ext cx="4206240" cy="4206240"/>
          </a:xfrm>
          <a:prstGeom prst="ellipse">
            <a:avLst/>
          </a:prstGeom>
          <a:solidFill>
            <a:srgbClr val="0F766E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INVESTIGATIVA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hace este proyecto transferible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21488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scoring calibrable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249631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Contrastar el puntaje contra el desenlace real del lead y recalibrar los pesos por regresión logística: de heurística a modelo predictivo validado.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32918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Reconciliación sin pérdida silenciosa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363931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detección explícita de conflictos es generalizable a cualquier sistema de captura distribuida; el siguiente paso son estructuras CRDT.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E08A2E"/>
          </a:solidFill>
          <a:ln w="12700">
            <a:solidFill>
              <a:srgbClr val="E08A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44348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 de medición replicable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478231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BD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protocolo de tres escenarios de red y cuatro métricas sirve para salud rural, inspección agrícola, censos o mantenimiento de infraestructura.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715000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072826"/>
          </a:solidFill>
          <a:ln w="12700">
            <a:solidFill>
              <a:srgbClr val="1E504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571500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documentación técnica y esta presentación:  github.com/sgrlrichterl/inmovisita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Católica del Norte Fundación Universitaria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InmoVisita</dc:title>
  <dc:subject>PptxGenJS Presentation</dc:subject>
  <dc:creator>Sebastián García Riveros</dc:creator>
  <cp:lastModifiedBy>Sebastián García Riveros</cp:lastModifiedBy>
  <cp:revision>1</cp:revision>
  <dcterms:created xsi:type="dcterms:W3CDTF">2026-09-01T00:04:59Z</dcterms:created>
  <dcterms:modified xsi:type="dcterms:W3CDTF">2026-09-01T00:04:59Z</dcterms:modified>
</cp:coreProperties>
</file>